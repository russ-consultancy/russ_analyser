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80" r:id="rId2"/>
    <p:sldMasterId id="2147483687" r:id="rId3"/>
  </p:sldMasterIdLst>
  <p:notesMasterIdLst>
    <p:notesMasterId r:id="rId5"/>
  </p:notesMasterIdLst>
  <p:handoutMasterIdLst>
    <p:handoutMasterId r:id="rId6"/>
  </p:handoutMasterIdLst>
  <p:sldIdLst>
    <p:sldId id="2147478671" r:id="rId4"/>
    <p:sldId id="21474786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626DA2"/>
    <a:srgbClr val="7F88B3"/>
    <a:srgbClr val="5A64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34535C-1372-CBFE-E433-8562E360FE52}" v="133" dt="2025-10-25T05:48:32.1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53" autoAdjust="0"/>
    <p:restoredTop sz="94660"/>
  </p:normalViewPr>
  <p:slideViewPr>
    <p:cSldViewPr snapToGrid="0">
      <p:cViewPr varScale="1">
        <p:scale>
          <a:sx n="89" d="100"/>
          <a:sy n="89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5/10/relationships/revisionInfo" Target="revisionInfo.xml"/><Relationship Id="rId12" Type="http://schemas.openxmlformats.org/officeDocument/2006/relationships/slide" Target="slides/slide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AD53F6-5398-D7D5-5336-4B980ECB44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4E0FA-DFE7-D2E7-A7DB-993C28B25E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8A93D-6BD0-4E09-906B-114AF3F04E5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915FC-CCCA-80F7-477B-635F443C2A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E7568-1CDF-442D-5C34-E418B791EC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B6604-B5FE-4B7C-AEC6-082B8BE32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5226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CCE69-F999-4DD4-B953-9DDE7054F61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BAE2E-D0A4-4F3B-A9D3-F9F1D9FD6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79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385295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AC8E8-8C8D-8E79-55F0-BE82F1A40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B1626-22DE-9EFF-FC3E-6C01AB46B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19728-2279-EC45-9485-F3DCEC59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6E346-C576-4FF8-B07C-9BCAE2E777E2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C8FD8-9F5F-706A-EE7A-B413F3C68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314CD-7ECD-6767-3851-35252BDEE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76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5231-C7AA-6D48-84E6-97A6C936D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826EC-9AB5-3F34-7685-2CA907879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E9150-3CB9-1392-B716-91EBBC72C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0D15-C86A-46F3-8490-2609BDDBC524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0EBD6-A000-C006-182C-34F20B96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7311C-9FC7-3BEA-06E8-CDDE98B0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15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82E2-D442-4550-5EE5-F516DF771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B9BB7-635E-6903-4AED-64019219C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071D5-BEF7-5545-B8F3-9FE9F7C3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F0A7-DCB1-4795-96D3-2DE6B633D4BD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1B2CA-C1DD-54D0-FAC2-91A66B2B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E88A4-2A04-7FE4-5F02-C81C20B30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06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C1FF-979E-7272-D5CD-5DB7FD65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C68C6-989C-A29F-432D-CCD56D78B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C7A64-A8AF-EDB2-96BF-885F00E34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8D938-7965-E6C2-70BD-4A53B5C4D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BECA7-51E5-4ACC-9199-3ED6AE9396B1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F63FD-2DBA-8277-F30A-3FA3F7A2F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EBA8E-2EC0-B86E-1E84-767F15A1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28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3874-399A-8E32-55BA-3BA08000C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9453A-637B-A502-2A20-4E3295AB6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BC069-C336-2782-DB2B-F9C4CA640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EB54C5-41D4-C504-272E-11B431CA5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F65930-EED7-B13F-C3D4-BBC1D12553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278CD-B882-E57C-3034-2F4B66106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4A28F-9122-4FF9-BFE7-78C7089E7460}" type="datetime1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0CB262-2C1D-C62C-531E-6063ACCF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7386DE-AB69-6037-DA22-E98440F7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7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ECEF0-620C-9C3F-8018-5593A2EC3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58EA1-0720-F0EA-3EF1-59AB17293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9BAEE-0C8A-4658-81A4-6E3AF868383E}" type="datetime1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D537D3-0DD4-54ED-D3D0-FC037D58E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C0627-5210-7231-6D39-9F5547A09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26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1EFBB-5594-966E-D95D-63F5F7484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9BD3-D368-446C-8921-FC2CE24FE664}" type="datetime1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073A55-EA54-F9A0-ACAD-30A1BB00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B6A77-347A-2AEC-12F8-CD0C65D7C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71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25FB-8B68-8DBE-322A-E0996AF6D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5E0DE-598B-6184-A646-410787A46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4BC8E-9BFC-3E37-91AF-0CBECC2A5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DDB17-8EE0-99D6-7DDD-FD0CD16B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421EE-3F92-46F8-B6DB-C8D6B05F094E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3E27D-3A5B-139D-8851-620FD63E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7474A-D29E-701C-93DD-208FC8D1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0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8E88A-9F94-CDD9-1A5D-47C79BB2F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335662-067D-8497-C368-14656C1522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FC8B2-4D35-AFCB-1A0C-FEAD43CCB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63EC5-2ED9-1A7A-7A0E-1D7951F1D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F929-467E-4110-B4CF-CE511756E7E1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EF74E-0F2F-DD34-037B-F834F3887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7F4BC-6A47-04BC-E5D8-F34FFB4A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3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82B91-9047-0232-1C0E-226B781B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040CC-565F-6D7E-3136-0C2B0D36A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171C-23CF-9D69-84D7-85280D3D4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FD1A1-8D94-468D-8373-E8865BFEAC8A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4DCAD-8744-B106-3904-64307FDF8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8534E-E7D2-1F11-F41B-8D836526F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3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C6C7F6-DC30-D403-1551-610FFEFBBA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2BC4E8-375C-BF21-9064-06E8BF93A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AFD31-21D0-FE01-7DA8-788BBF6D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6B89-F2D8-4137-A26A-1BD86B361527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9DF5A-845F-A8E2-6ED4-8984A6AA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AFFF4-5A14-D5C9-7C80-FF288DF23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77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1_Title Sl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2" name="Google Shape;92;p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</a:endParaRPr>
          </a:p>
        </p:txBody>
      </p:sp>
      <p:sp>
        <p:nvSpPr>
          <p:cNvPr id="93" name="Google Shape;93;p9"/>
          <p:cNvSpPr txBox="1">
            <a:spLocks noGrp="1"/>
          </p:cNvSpPr>
          <p:nvPr>
            <p:ph type="ftr" idx="11"/>
          </p:nvPr>
        </p:nvSpPr>
        <p:spPr>
          <a:xfrm>
            <a:off x="312420" y="6356350"/>
            <a:ext cx="7175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sldNum" idx="12"/>
          </p:nvPr>
        </p:nvSpPr>
        <p:spPr>
          <a:xfrm>
            <a:off x="91363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1427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2420" y="517515"/>
            <a:ext cx="11567160" cy="82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2420" y="1825625"/>
            <a:ext cx="1156716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312420" y="6356350"/>
            <a:ext cx="7175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91363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r>
              <a:rPr lang="en-US"/>
              <a:t>Proprietary and Confidential | </a:t>
            </a:r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0923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per Title">
  <p:cSld name="Title and Super Titl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312420" y="517515"/>
            <a:ext cx="11567160" cy="82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04800" y="254000"/>
            <a:ext cx="1159256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 cap="none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ftr" idx="11"/>
          </p:nvPr>
        </p:nvSpPr>
        <p:spPr>
          <a:xfrm>
            <a:off x="312420" y="6356350"/>
            <a:ext cx="7175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sldNum" idx="12"/>
          </p:nvPr>
        </p:nvSpPr>
        <p:spPr>
          <a:xfrm>
            <a:off x="91363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r>
              <a:rPr lang="en-US"/>
              <a:t>Proprietary and Confidential | </a:t>
            </a:r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6918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title"/>
          </p:nvPr>
        </p:nvSpPr>
        <p:spPr>
          <a:xfrm>
            <a:off x="312420" y="209971"/>
            <a:ext cx="11567160" cy="82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1"/>
          </p:nvPr>
        </p:nvSpPr>
        <p:spPr>
          <a:xfrm>
            <a:off x="304800" y="1046480"/>
            <a:ext cx="1159256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cap="none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ftr" idx="11"/>
          </p:nvPr>
        </p:nvSpPr>
        <p:spPr>
          <a:xfrm>
            <a:off x="312420" y="6356350"/>
            <a:ext cx="7175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sldNum" idx="12"/>
          </p:nvPr>
        </p:nvSpPr>
        <p:spPr>
          <a:xfrm>
            <a:off x="91363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r>
              <a:rPr lang="en-US"/>
              <a:t>Proprietary and Confidential | </a:t>
            </a:r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4428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>
            <a:spLocks noGrp="1"/>
          </p:cNvSpPr>
          <p:nvPr>
            <p:ph type="title"/>
          </p:nvPr>
        </p:nvSpPr>
        <p:spPr>
          <a:xfrm>
            <a:off x="312420" y="517515"/>
            <a:ext cx="11567160" cy="82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ftr" idx="11"/>
          </p:nvPr>
        </p:nvSpPr>
        <p:spPr>
          <a:xfrm>
            <a:off x="312420" y="6356350"/>
            <a:ext cx="7175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sldNum" idx="12"/>
          </p:nvPr>
        </p:nvSpPr>
        <p:spPr>
          <a:xfrm>
            <a:off x="91363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r>
              <a:rPr lang="en-US"/>
              <a:t>Proprietary and Confidential | </a:t>
            </a:r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493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>
            <a:spLocks noGrp="1"/>
          </p:cNvSpPr>
          <p:nvPr>
            <p:ph type="ftr" idx="11"/>
          </p:nvPr>
        </p:nvSpPr>
        <p:spPr>
          <a:xfrm>
            <a:off x="312420" y="6356350"/>
            <a:ext cx="7175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sldNum" idx="12"/>
          </p:nvPr>
        </p:nvSpPr>
        <p:spPr>
          <a:xfrm>
            <a:off x="91363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r>
              <a:rPr lang="en-US"/>
              <a:t>Proprietary and Confidential | </a:t>
            </a:r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617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331"/>
            <a:ext cx="105156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EDF2B47-7C58-458B-A014-B081B81A8D06}"/>
              </a:ext>
            </a:extLst>
          </p:cNvPr>
          <p:cNvGrpSpPr/>
          <p:nvPr userDrawn="1"/>
        </p:nvGrpSpPr>
        <p:grpSpPr>
          <a:xfrm>
            <a:off x="12578642" y="2"/>
            <a:ext cx="2196697" cy="1816099"/>
            <a:chOff x="12554553" y="1"/>
            <a:chExt cx="1647523" cy="1816099"/>
          </a:xfrm>
        </p:grpSpPr>
        <p:sp>
          <p:nvSpPr>
            <p:cNvPr id="4" name="Rectangle: Folded Corner 3">
              <a:extLst>
                <a:ext uri="{FF2B5EF4-FFF2-40B4-BE49-F238E27FC236}">
                  <a16:creationId xmlns:a16="http://schemas.microsoft.com/office/drawing/2014/main" id="{C7ACA455-4437-4416-A6F0-33D534A6AE9F}"/>
                </a:ext>
              </a:extLst>
            </p:cNvPr>
            <p:cNvSpPr/>
            <p:nvPr userDrawn="1"/>
          </p:nvSpPr>
          <p:spPr>
            <a:xfrm>
              <a:off x="12554553" y="1"/>
              <a:ext cx="1644047" cy="1816099"/>
            </a:xfrm>
            <a:prstGeom prst="foldedCorner">
              <a:avLst/>
            </a:prstGeom>
            <a:ln>
              <a:noFill/>
            </a:ln>
            <a:effectLst>
              <a:outerShdw blurRad="1016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Ins="0" rtlCol="0" anchor="t"/>
            <a:lstStyle/>
            <a:p>
              <a:r>
                <a:rPr lang="en-US" sz="1400">
                  <a:solidFill>
                    <a:srgbClr val="F7931F">
                      <a:lumMod val="50000"/>
                    </a:srgbClr>
                  </a:solidFill>
                </a:rPr>
                <a:t>To insert your own icons*:</a:t>
              </a:r>
            </a:p>
            <a:p>
              <a:endParaRPr lang="en-US" sz="1400">
                <a:solidFill>
                  <a:srgbClr val="F7931F">
                    <a:lumMod val="50000"/>
                  </a:srgbClr>
                </a:solidFill>
              </a:endParaRPr>
            </a:p>
            <a:p>
              <a:r>
                <a:rPr lang="en-US" sz="1400" b="1">
                  <a:solidFill>
                    <a:srgbClr val="F7931F">
                      <a:lumMod val="50000"/>
                    </a:srgbClr>
                  </a:solidFill>
                </a:rPr>
                <a:t>Insert</a:t>
              </a:r>
              <a:r>
                <a:rPr lang="en-US" sz="1400">
                  <a:solidFill>
                    <a:srgbClr val="F7931F">
                      <a:lumMod val="50000"/>
                    </a:srgbClr>
                  </a:solidFill>
                </a:rPr>
                <a:t> &gt;&gt; </a:t>
              </a:r>
              <a:r>
                <a:rPr lang="en-US" sz="1400" b="1">
                  <a:solidFill>
                    <a:srgbClr val="F7931F">
                      <a:lumMod val="50000"/>
                    </a:srgbClr>
                  </a:solidFill>
                </a:rPr>
                <a:t>Icons</a:t>
              </a:r>
            </a:p>
            <a:p>
              <a:endParaRPr lang="en-US" sz="1400">
                <a:solidFill>
                  <a:srgbClr val="F7931F">
                    <a:lumMod val="50000"/>
                  </a:srgbClr>
                </a:solidFill>
              </a:endParaRPr>
            </a:p>
            <a:p>
              <a:r>
                <a:rPr lang="en-US" sz="1200" i="1">
                  <a:solidFill>
                    <a:srgbClr val="F7931F">
                      <a:lumMod val="50000"/>
                    </a:srgbClr>
                  </a:solidFill>
                </a:rPr>
                <a:t>(*Only available to Office 365 subscribers)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180DD64-6AC6-41B8-826F-6BE55763C6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802026" y="424090"/>
              <a:ext cx="400050" cy="657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76636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3.xml"/><Relationship Id="rId3" Type="http://schemas.openxmlformats.org/officeDocument/2006/relationships/image" Target="../media/image1.png"/><Relationship Id="rId4" Type="http://schemas.openxmlformats.org/officeDocument/2006/relationships/hyperlink" Target="http://www.presentationgo.com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731A94-5C7D-1F15-CF8E-D38780394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421AC-0421-65C7-C358-E5270975C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BA3A3-94F9-CEA7-C504-A2B609181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C4B5F-15A1-4C24-8C5A-904B279525C0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F4B5C-947E-8CF1-8BE7-928ACE31B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Proprietary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7E014-531E-F276-F5C0-F55EC05BF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748AA-3880-4D8C-9FC9-30855D03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8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64000">
              <a:schemeClr val="accent1"/>
            </a:gs>
            <a:gs pos="100000">
              <a:srgbClr val="093148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>
            <a:spLocks noGrp="1"/>
          </p:cNvSpPr>
          <p:nvPr>
            <p:ph type="title"/>
          </p:nvPr>
        </p:nvSpPr>
        <p:spPr>
          <a:xfrm>
            <a:off x="312420" y="517515"/>
            <a:ext cx="11567160" cy="82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1"/>
          </p:nvPr>
        </p:nvSpPr>
        <p:spPr>
          <a:xfrm>
            <a:off x="312420" y="1825625"/>
            <a:ext cx="1156716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ftr" idx="11"/>
          </p:nvPr>
        </p:nvSpPr>
        <p:spPr>
          <a:xfrm>
            <a:off x="312420" y="6356350"/>
            <a:ext cx="7175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88" name="Google Shape;88;p8"/>
          <p:cNvSpPr txBox="1">
            <a:spLocks noGrp="1"/>
          </p:cNvSpPr>
          <p:nvPr>
            <p:ph type="sldNum" idx="12"/>
          </p:nvPr>
        </p:nvSpPr>
        <p:spPr>
          <a:xfrm>
            <a:off x="91363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D6D6D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r>
              <a:rPr lang="en-US" kern="0"/>
              <a:t>Proprietary and Confidential | </a:t>
            </a: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35938105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0633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algn="ctr">
              <a:defRPr/>
            </a:pPr>
            <a:r>
              <a:rPr lang="en-US" sz="3200" spc="150" dirty="0">
                <a:solidFill>
                  <a:prstClr val="white">
                    <a:lumMod val="75000"/>
                  </a:prstClr>
                </a:solidFill>
              </a:rPr>
              <a:t>www.</a:t>
            </a:r>
            <a:r>
              <a:rPr lang="en-US" sz="3200" spc="150" dirty="0">
                <a:solidFill>
                  <a:prstClr val="black">
                    <a:lumMod val="85000"/>
                    <a:lumOff val="15000"/>
                  </a:prstClr>
                </a:solidFill>
              </a:rPr>
              <a:t>presentationgo</a:t>
            </a:r>
            <a:r>
              <a:rPr lang="en-US" sz="3200" spc="150" dirty="0">
                <a:solidFill>
                  <a:prstClr val="white">
                    <a:lumMod val="75000"/>
                  </a:prstClr>
                </a:solidFill>
              </a:rPr>
              <a:t>.com</a:t>
            </a:r>
          </a:p>
        </p:txBody>
      </p:sp>
      <p:sp>
        <p:nvSpPr>
          <p:cNvPr id="23" name="Freeform 22"/>
          <p:cNvSpPr/>
          <p:nvPr userDrawn="1"/>
        </p:nvSpPr>
        <p:spPr>
          <a:xfrm rot="5400000">
            <a:off x="183153" y="21288"/>
            <a:ext cx="369496" cy="761203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-2206543" y="-73804"/>
            <a:ext cx="1977373" cy="612144"/>
            <a:chOff x="-2096383" y="21447"/>
            <a:chExt cx="1483030" cy="612144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-2096383" y="21447"/>
              <a:ext cx="2491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prstClr val="black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-1002010" y="387370"/>
              <a:ext cx="3128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prstClr val="black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 userDrawn="1"/>
        </p:nvSpPr>
        <p:spPr>
          <a:xfrm>
            <a:off x="-118532" y="6959601"/>
            <a:ext cx="135325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srgbClr val="555555"/>
                </a:solidFill>
                <a:latin typeface="Open Sans" panose="020B0606030504020204" pitchFamily="34" charset="0"/>
              </a:rPr>
              <a:t>© </a:t>
            </a:r>
            <a:r>
              <a:rPr lang="en-US" sz="1100" dirty="0">
                <a:solidFill>
                  <a:srgbClr val="A5CD28"/>
                </a:solidFill>
                <a:latin typeface="Open Sans" panose="020B0606030504020204" pitchFamily="34" charset="0"/>
                <a:hlinkClick r:id="rId4" tooltip="PresentationGo!"/>
              </a:rPr>
              <a:t>presentationgo.com</a:t>
            </a:r>
            <a:endParaRPr lang="en-US" sz="11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543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purple logo&#10;&#10;AI-generated content may be incorrect.">
            <a:extLst>
              <a:ext uri="{FF2B5EF4-FFF2-40B4-BE49-F238E27FC236}">
                <a16:creationId xmlns:a16="http://schemas.microsoft.com/office/drawing/2014/main" id="{1B8038D6-2C82-0F39-F1B0-CDE421FFF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749" y="249382"/>
            <a:ext cx="1975139" cy="1129146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A33FDA5A-C9FE-79D5-9E39-B890F3009766}"/>
              </a:ext>
            </a:extLst>
          </p:cNvPr>
          <p:cNvSpPr txBox="1"/>
          <p:nvPr/>
        </p:nvSpPr>
        <p:spPr>
          <a:xfrm>
            <a:off x="1939635" y="2822864"/>
            <a:ext cx="831272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Lato Black"/>
                <a:ea typeface="Calibri Light"/>
                <a:cs typeface="Arial"/>
              </a:rPr>
              <a:t>AWR MIGRATION AND VM RECOMMENDATION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8543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UNKNOWN (AZURE)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Recommended VM: Standard_E2s_v5</a:t>
            </a:r>
          </a:p>
          <a:p>
            <a:r>
              <a:t>Category: E-series</a:t>
            </a:r>
          </a:p>
          <a:p>
            <a:r>
              <a:t>vCPUs: 0  |  Memory: 0.0 GB</a:t>
            </a:r>
          </a:p>
          <a:p>
            <a:r>
              <a:t>IOPS: 0.0  |  Throughput: 0.0 MB/s</a:t>
            </a:r>
          </a:p>
          <a:p>
            <a:r>
              <a:t>Hourly Price: $0.126  |  Monthly Cost: $91.98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Tessell 2022">
      <a:dk1>
        <a:srgbClr val="000000"/>
      </a:dk1>
      <a:lt1>
        <a:srgbClr val="FFFFFF"/>
      </a:lt1>
      <a:dk2>
        <a:srgbClr val="CCCCCC"/>
      </a:dk2>
      <a:lt2>
        <a:srgbClr val="EEEEEE"/>
      </a:lt2>
      <a:accent1>
        <a:srgbClr val="11567F"/>
      </a:accent1>
      <a:accent2>
        <a:srgbClr val="1E7EA1"/>
      </a:accent2>
      <a:accent3>
        <a:srgbClr val="28B5E8"/>
      </a:accent3>
      <a:accent4>
        <a:srgbClr val="EC373C"/>
      </a:accent4>
      <a:accent5>
        <a:srgbClr val="4DAC49"/>
      </a:accent5>
      <a:accent6>
        <a:srgbClr val="F2913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3927</TotalTime>
  <Words>1212</Words>
  <Application>Microsoft Office PowerPoint</Application>
  <PresentationFormat>Widescreen</PresentationFormat>
  <Paragraphs>292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1_Office Theme</vt:lpstr>
      <vt:lpstr>3_Office Theme</vt:lpstr>
      <vt:lpstr>Template PresentationGo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Nadar, Arockia Nixon (ES Global Design)</dc:creator>
  <cp:lastModifiedBy>Sudha B</cp:lastModifiedBy>
  <cp:revision>260</cp:revision>
  <dcterms:created xsi:type="dcterms:W3CDTF">2024-01-15T06:53:23Z</dcterms:created>
  <dcterms:modified xsi:type="dcterms:W3CDTF">2025-10-25T05:48:39Z</dcterms:modified>
</cp:coreProperties>
</file>